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4" r:id="rId5"/>
    <p:sldId id="293" r:id="rId6"/>
    <p:sldId id="297" r:id="rId7"/>
    <p:sldId id="299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33CC33"/>
    <a:srgbClr val="5CEB35"/>
    <a:srgbClr val="FF9999"/>
    <a:srgbClr val="D9B3FF"/>
    <a:srgbClr val="9933FF"/>
    <a:srgbClr val="E09EF4"/>
    <a:srgbClr val="D556F8"/>
    <a:srgbClr val="010000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B956C7-8813-4BE1-B202-471B3A361E33}" v="23" dt="2026-09-07T13:29:28.5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0172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8869-7196-129F-C211-24F6FFA0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5980E4D-C862-A2BB-C0BF-5C1DEFE1E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DC44EC0C-A527-26CF-DFFB-E04F6D12C4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96A58460-5233-0651-4205-198D9E6EC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899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jpe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2.png"/><Relationship Id="rId7" Type="http://schemas.openxmlformats.org/officeDocument/2006/relationships/hyperlink" Target="https://www.incredibleindia.gov.in/content/incredible-india-v2/en/experiences/heritag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credibleindia.gov.in/en/people-and-culture" TargetMode="External"/><Relationship Id="rId5" Type="http://schemas.openxmlformats.org/officeDocument/2006/relationships/hyperlink" Target="https://www.indiaculture.gov.in/" TargetMode="External"/><Relationship Id="rId4" Type="http://schemas.openxmlformats.org/officeDocument/2006/relationships/hyperlink" Target="https://ich.unesco.org/en/state/india-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17982" y="1854708"/>
            <a:ext cx="3203509" cy="34262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7825" y="1583815"/>
            <a:ext cx="6287542" cy="4339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Problem Statement ID </a:t>
            </a:r>
            <a:r>
              <a:rPr lang="en-GB" sz="2800" b="1" dirty="0"/>
              <a:t>– 26197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Problem Statement Title </a:t>
            </a:r>
            <a:r>
              <a:rPr lang="en-GB" sz="2800" b="1" dirty="0"/>
              <a:t>–</a:t>
            </a:r>
            <a:r>
              <a:rPr lang="en-GB" sz="2800" dirty="0"/>
              <a:t> </a:t>
            </a:r>
            <a:r>
              <a:rPr lang="en-GB" sz="2800" b="1" dirty="0"/>
              <a:t>Student Innovation-Ideas that showcase the rich cultural heritage and traditions of India.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Theme</a:t>
            </a:r>
            <a:r>
              <a:rPr lang="en-GB" sz="2800" b="1" dirty="0"/>
              <a:t> – Heritage / Culture &amp; Tourism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PS Category </a:t>
            </a:r>
            <a:r>
              <a:rPr lang="en-GB" sz="2800" b="1" dirty="0"/>
              <a:t>–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Team ID </a:t>
            </a:r>
            <a:r>
              <a:rPr lang="en-GB" sz="2800" b="1" dirty="0"/>
              <a:t>– 29</a:t>
            </a:r>
            <a:endParaRPr lang="en-GB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Team Name </a:t>
            </a:r>
            <a:r>
              <a:rPr lang="en-GB" sz="2800" b="1" dirty="0"/>
              <a:t>– Hexagon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763" y="-1462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E6862F-1B08-CA47-40DB-D7B5CFF03962}"/>
              </a:ext>
            </a:extLst>
          </p:cNvPr>
          <p:cNvSpPr txBox="1"/>
          <p:nvPr/>
        </p:nvSpPr>
        <p:spPr>
          <a:xfrm>
            <a:off x="7890933" y="5554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80939-3CB4-A6D8-FADD-D806246C6179}"/>
              </a:ext>
            </a:extLst>
          </p:cNvPr>
          <p:cNvSpPr/>
          <p:nvPr/>
        </p:nvSpPr>
        <p:spPr>
          <a:xfrm>
            <a:off x="1524000" y="190450"/>
            <a:ext cx="8358763" cy="769441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400" b="1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erpetua" panose="02020502060401020303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4400" b="1" dirty="0">
              <a:ln w="0"/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erpetua" panose="02020502060401020303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en-US" sz="3200" b="1" dirty="0">
                <a:solidFill>
                  <a:srgbClr val="010000"/>
                </a:solidFill>
                <a:latin typeface="Aptos"/>
              </a:rPr>
              <a:t>VIRASAT — Heritage of India</a:t>
            </a:r>
            <a:endParaRPr sz="3200" b="1" dirty="0">
              <a:solidFill>
                <a:srgbClr val="010000"/>
              </a:solidFill>
              <a:latin typeface="Apto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ctr"/>
            <a:r>
              <a:rPr sz="900" b="0">
                <a:solidFill>
                  <a:srgbClr val="5C6670"/>
                </a:solidFill>
                <a:latin typeface="Aptos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672" y="-9388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2966D-067B-E67C-A0CE-BF9585C94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" y="-867"/>
            <a:ext cx="1702210" cy="1134806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FC607DC-0579-8C21-C1D0-6085B394C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010979"/>
              </p:ext>
            </p:extLst>
          </p:nvPr>
        </p:nvGraphicFramePr>
        <p:xfrm>
          <a:off x="245807" y="1075317"/>
          <a:ext cx="5712541" cy="52609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2541">
                  <a:extLst>
                    <a:ext uri="{9D8B030D-6E8A-4147-A177-3AD203B41FA5}">
                      <a16:colId xmlns:a16="http://schemas.microsoft.com/office/drawing/2014/main" val="1576464709"/>
                    </a:ext>
                  </a:extLst>
                </a:gridCol>
              </a:tblGrid>
              <a:tr h="356013">
                <a:tc>
                  <a:txBody>
                    <a:bodyPr/>
                    <a:lstStyle/>
                    <a:p>
                      <a:r>
                        <a:rPr lang="en-IN" b="1" dirty="0"/>
                        <a:t>PROBLEM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797056"/>
                  </a:ext>
                </a:extLst>
              </a:tr>
              <a:tr h="489517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b="0" dirty="0"/>
                        <a:t>India's cultural knowledge is abundant, but fragmented, difficult to explore, and not engaging enough for today's digital generation.</a:t>
                      </a: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India has an enormous cultural heritage, but accessing and understanding it is difficult.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Cultural information is </a:t>
                      </a:r>
                      <a:r>
                        <a:rPr lang="en-IN" b="0" dirty="0"/>
                        <a:t>scattered</a:t>
                      </a:r>
                      <a:r>
                        <a:rPr lang="en-IN" b="1" dirty="0"/>
                        <a:t> </a:t>
                      </a:r>
                      <a:r>
                        <a:rPr lang="en-IN" dirty="0"/>
                        <a:t>across websites, books, tourism portals and regional sources.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Existing platforms are mostly </a:t>
                      </a:r>
                      <a:r>
                        <a:rPr lang="en-IN" b="0" dirty="0"/>
                        <a:t>static, text-heavy or academic.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Young users often know only about popular festivals and monuments.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Lesser-known tribal traditions, folk arts, crafts and oral traditions have limited digital visibility.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There is no unified interactive platform to explore India's diverse cultures.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/>
                        <a:t>Generic trivia apps provide entertainment but lack depth and authenticity.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61566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2FEC444-A2AA-436A-40A6-78CECB221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749206"/>
              </p:ext>
            </p:extLst>
          </p:nvPr>
        </p:nvGraphicFramePr>
        <p:xfrm>
          <a:off x="6204869" y="1073365"/>
          <a:ext cx="5712541" cy="52628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2541">
                  <a:extLst>
                    <a:ext uri="{9D8B030D-6E8A-4147-A177-3AD203B41FA5}">
                      <a16:colId xmlns:a16="http://schemas.microsoft.com/office/drawing/2014/main" val="1576464709"/>
                    </a:ext>
                  </a:extLst>
                </a:gridCol>
              </a:tblGrid>
              <a:tr h="386203">
                <a:tc>
                  <a:txBody>
                    <a:bodyPr/>
                    <a:lstStyle/>
                    <a:p>
                      <a:r>
                        <a:rPr lang="en-IN" b="1" dirty="0"/>
                        <a:t>SOLUTION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797056"/>
                  </a:ext>
                </a:extLst>
              </a:tr>
              <a:tr h="48766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b="1" dirty="0"/>
                        <a:t>Bharat Heritage is a centralized digital platform that transforms cultural learning into an interactive experience.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IN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Provides structured cultural information for different states and regions.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Allows users to explore India through an interactive cultural map.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Presents information through stories, visuals, quizzes and challenges.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Uses gamification to encourage continuous learning and exploration.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Provides an AI-powered cultural guide for personalized questions and explanations.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Focuses on preserving both tangible and intangible cultural heritage.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6156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567636" y="208011"/>
            <a:ext cx="5056725" cy="706389"/>
          </a:xfrm>
        </p:spPr>
        <p:txBody>
          <a:bodyPr wrap="square" anchor="ctr"/>
          <a:lstStyle/>
          <a:p>
            <a:pPr algn="ctr" eaLnBrk="1" hangingPunct="1"/>
            <a:r>
              <a:rPr sz="2800" b="1" dirty="0">
                <a:solidFill>
                  <a:srgbClr val="182B41"/>
                </a:solidFill>
                <a:latin typeface="Aptos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ctr"/>
            <a:r>
              <a:rPr sz="900" b="0">
                <a:solidFill>
                  <a:srgbClr val="5C6670"/>
                </a:solidFill>
                <a:latin typeface="Aptos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541" y="774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BA8A47-300B-9243-E586-1A22BEFAB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" y="-867"/>
            <a:ext cx="1702210" cy="113480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F6B7DA-3795-C403-202A-A7E9EB0D5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773757"/>
              </p:ext>
            </p:extLst>
          </p:nvPr>
        </p:nvGraphicFramePr>
        <p:xfrm>
          <a:off x="370349" y="1609590"/>
          <a:ext cx="5725651" cy="3490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3118">
                  <a:extLst>
                    <a:ext uri="{9D8B030D-6E8A-4147-A177-3AD203B41FA5}">
                      <a16:colId xmlns:a16="http://schemas.microsoft.com/office/drawing/2014/main" val="1317338552"/>
                    </a:ext>
                  </a:extLst>
                </a:gridCol>
                <a:gridCol w="3922533">
                  <a:extLst>
                    <a:ext uri="{9D8B030D-6E8A-4147-A177-3AD203B41FA5}">
                      <a16:colId xmlns:a16="http://schemas.microsoft.com/office/drawing/2014/main" val="2235585621"/>
                    </a:ext>
                  </a:extLst>
                </a:gridCol>
              </a:tblGrid>
              <a:tr h="658662">
                <a:tc>
                  <a:txBody>
                    <a:bodyPr/>
                    <a:lstStyle/>
                    <a:p>
                      <a:r>
                        <a:rPr lang="en-IN" sz="1800" b="1" dirty="0"/>
                        <a:t>Frontend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React.js, HTML, CSS and JavaScript, Responsive design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319169"/>
                  </a:ext>
                </a:extLst>
              </a:tr>
              <a:tr h="491613">
                <a:tc>
                  <a:txBody>
                    <a:bodyPr/>
                    <a:lstStyle/>
                    <a:p>
                      <a:r>
                        <a:rPr lang="en-IN" sz="1800" b="1" dirty="0"/>
                        <a:t>Backend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Node.js, </a:t>
                      </a:r>
                      <a:r>
                        <a:rPr lang="en-IN" sz="1800" dirty="0" err="1"/>
                        <a:t>FastAPI</a:t>
                      </a:r>
                      <a:r>
                        <a:rPr lang="en-IN" sz="1800" dirty="0"/>
                        <a:t>, REST APIs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381143"/>
                  </a:ext>
                </a:extLst>
              </a:tr>
              <a:tr h="698090">
                <a:tc>
                  <a:txBody>
                    <a:bodyPr/>
                    <a:lstStyle/>
                    <a:p>
                      <a:r>
                        <a:rPr lang="en-IN" sz="1800" b="1" dirty="0"/>
                        <a:t>Database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PostgreSQL / MongoDB, User profiles, cultural content and progress data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820482"/>
                  </a:ext>
                </a:extLst>
              </a:tr>
              <a:tr h="727587">
                <a:tc>
                  <a:txBody>
                    <a:bodyPr/>
                    <a:lstStyle/>
                    <a:p>
                      <a:r>
                        <a:rPr lang="en-IN" sz="1800" b="1" dirty="0"/>
                        <a:t>AI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Large Language Model, RAG pipeline, Embedding model, Vector database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16940"/>
                  </a:ext>
                </a:extLst>
              </a:tr>
              <a:tr h="818686">
                <a:tc>
                  <a:txBody>
                    <a:bodyPr/>
                    <a:lstStyle/>
                    <a:p>
                      <a:r>
                        <a:rPr lang="en-IN" sz="1800" b="1" dirty="0"/>
                        <a:t>Other Technologies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Interactive map and </a:t>
                      </a:r>
                      <a:r>
                        <a:rPr lang="en-IN" sz="1800" dirty="0" err="1"/>
                        <a:t>GeoJSON</a:t>
                      </a:r>
                      <a:r>
                        <a:rPr lang="en-IN" sz="1800" dirty="0"/>
                        <a:t>, Cloud infrastructure, Authentication system, Content Management System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5609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780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109943" y="122457"/>
            <a:ext cx="5187625" cy="1143000"/>
          </a:xfrm>
        </p:spPr>
        <p:txBody>
          <a:bodyPr wrap="square" anchor="ctr"/>
          <a:lstStyle/>
          <a:p>
            <a:pPr algn="ctr" eaLnBrk="1" hangingPunct="1"/>
            <a:r>
              <a:rPr lang="en-IN" sz="2800" b="1" dirty="0">
                <a:solidFill>
                  <a:srgbClr val="182B41"/>
                </a:solidFill>
                <a:latin typeface="Aptos"/>
              </a:rPr>
              <a:t>ARCHITECTURE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5C6670"/>
                </a:solidFill>
                <a:latin typeface="Aptos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670" y="-1949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23" name="TextBox 17422"/>
          <p:cNvSpPr txBox="1"/>
          <p:nvPr/>
        </p:nvSpPr>
        <p:spPr>
          <a:xfrm>
            <a:off x="790702" y="3829228"/>
            <a:ext cx="1325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600" b="1" dirty="0">
              <a:solidFill>
                <a:srgbClr val="CD993F"/>
              </a:solidFill>
              <a:latin typeface="Aptos"/>
            </a:endParaRPr>
          </a:p>
        </p:txBody>
      </p:sp>
      <p:sp>
        <p:nvSpPr>
          <p:cNvPr id="17425" name="TextBox 17424"/>
          <p:cNvSpPr txBox="1"/>
          <p:nvPr/>
        </p:nvSpPr>
        <p:spPr>
          <a:xfrm>
            <a:off x="768264" y="4172111"/>
            <a:ext cx="15680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600" b="1" dirty="0">
              <a:solidFill>
                <a:srgbClr val="CD993F"/>
              </a:solidFill>
              <a:latin typeface="Aptos"/>
            </a:endParaRPr>
          </a:p>
        </p:txBody>
      </p:sp>
      <p:sp>
        <p:nvSpPr>
          <p:cNvPr id="17427" name="TextBox 17426"/>
          <p:cNvSpPr txBox="1"/>
          <p:nvPr/>
        </p:nvSpPr>
        <p:spPr>
          <a:xfrm>
            <a:off x="1117915" y="4534308"/>
            <a:ext cx="1325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600" b="1" dirty="0">
              <a:solidFill>
                <a:srgbClr val="CD993F"/>
              </a:solidFill>
              <a:latin typeface="Aptos"/>
            </a:endParaRPr>
          </a:p>
        </p:txBody>
      </p:sp>
      <p:sp>
        <p:nvSpPr>
          <p:cNvPr id="17429" name="TextBox 17428"/>
          <p:cNvSpPr txBox="1"/>
          <p:nvPr/>
        </p:nvSpPr>
        <p:spPr>
          <a:xfrm>
            <a:off x="778933" y="4937268"/>
            <a:ext cx="164422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600" b="1" dirty="0">
              <a:solidFill>
                <a:srgbClr val="CD993F"/>
              </a:solidFill>
              <a:latin typeface="Apto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072E74-7059-BBBA-6B66-DA7C12803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931" y="1003898"/>
            <a:ext cx="10814136" cy="51828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FDEA19-6D21-574F-6E22-24F308EADAAE}"/>
              </a:ext>
            </a:extLst>
          </p:cNvPr>
          <p:cNvSpPr txBox="1"/>
          <p:nvPr/>
        </p:nvSpPr>
        <p:spPr>
          <a:xfrm>
            <a:off x="1453642" y="1293487"/>
            <a:ext cx="1386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Start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42F51-3B8B-3068-3CA1-1AED369A8515}"/>
              </a:ext>
            </a:extLst>
          </p:cNvPr>
          <p:cNvSpPr txBox="1"/>
          <p:nvPr/>
        </p:nvSpPr>
        <p:spPr>
          <a:xfrm>
            <a:off x="3713128" y="1274247"/>
            <a:ext cx="1335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Login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DDD07B-257E-CFD5-655C-9C4EFBE990D4}"/>
              </a:ext>
            </a:extLst>
          </p:cNvPr>
          <p:cNvSpPr txBox="1"/>
          <p:nvPr/>
        </p:nvSpPr>
        <p:spPr>
          <a:xfrm>
            <a:off x="5651524" y="1283312"/>
            <a:ext cx="111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AI guide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762E6-6655-07F6-81A3-435B5F64447B}"/>
              </a:ext>
            </a:extLst>
          </p:cNvPr>
          <p:cNvSpPr txBox="1"/>
          <p:nvPr/>
        </p:nvSpPr>
        <p:spPr>
          <a:xfrm>
            <a:off x="7583937" y="1281801"/>
            <a:ext cx="1341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Suggest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9934D5-2BD2-9330-75C7-BB704A2AB558}"/>
              </a:ext>
            </a:extLst>
          </p:cNvPr>
          <p:cNvSpPr txBox="1"/>
          <p:nvPr/>
        </p:nvSpPr>
        <p:spPr>
          <a:xfrm>
            <a:off x="9297482" y="1282174"/>
            <a:ext cx="141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Community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57397-45E1-6D43-7536-8C2B11A95697}"/>
              </a:ext>
            </a:extLst>
          </p:cNvPr>
          <p:cNvSpPr txBox="1"/>
          <p:nvPr/>
        </p:nvSpPr>
        <p:spPr>
          <a:xfrm>
            <a:off x="5382787" y="2000598"/>
            <a:ext cx="137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Homepage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33CB81-BEB0-1CE7-C7BD-C6CF1E2B032F}"/>
              </a:ext>
            </a:extLst>
          </p:cNvPr>
          <p:cNvSpPr txBox="1"/>
          <p:nvPr/>
        </p:nvSpPr>
        <p:spPr>
          <a:xfrm>
            <a:off x="1783906" y="2689085"/>
            <a:ext cx="151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About us 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CFD98D-C29E-6158-41C4-7FEB30DB8F99}"/>
              </a:ext>
            </a:extLst>
          </p:cNvPr>
          <p:cNvSpPr txBox="1"/>
          <p:nvPr/>
        </p:nvSpPr>
        <p:spPr>
          <a:xfrm>
            <a:off x="4008781" y="2691119"/>
            <a:ext cx="200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it works 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7DFDAE-2444-FBF1-C204-73682F6C9AAE}"/>
              </a:ext>
            </a:extLst>
          </p:cNvPr>
          <p:cNvSpPr txBox="1"/>
          <p:nvPr/>
        </p:nvSpPr>
        <p:spPr>
          <a:xfrm>
            <a:off x="6492692" y="2688187"/>
            <a:ext cx="169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Registration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6D62E9-B26F-EA95-37FF-C55B7D5DF6E7}"/>
              </a:ext>
            </a:extLst>
          </p:cNvPr>
          <p:cNvSpPr txBox="1"/>
          <p:nvPr/>
        </p:nvSpPr>
        <p:spPr>
          <a:xfrm>
            <a:off x="9101052" y="2702810"/>
            <a:ext cx="147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 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11322E-63B5-7B7D-DADB-A01B01595054}"/>
              </a:ext>
            </a:extLst>
          </p:cNvPr>
          <p:cNvSpPr txBox="1"/>
          <p:nvPr/>
        </p:nvSpPr>
        <p:spPr>
          <a:xfrm>
            <a:off x="5812978" y="3809210"/>
            <a:ext cx="200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8A970C-2DE8-753A-CA19-7859BBE643BF}"/>
              </a:ext>
            </a:extLst>
          </p:cNvPr>
          <p:cNvSpPr txBox="1"/>
          <p:nvPr/>
        </p:nvSpPr>
        <p:spPr>
          <a:xfrm>
            <a:off x="5898737" y="3404139"/>
            <a:ext cx="166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Pre-Processing 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62470B-DE25-94F4-713C-562EBECC0A31}"/>
              </a:ext>
            </a:extLst>
          </p:cNvPr>
          <p:cNvSpPr txBox="1"/>
          <p:nvPr/>
        </p:nvSpPr>
        <p:spPr>
          <a:xfrm>
            <a:off x="8951024" y="3391538"/>
            <a:ext cx="99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Classify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151A6D-4094-01A8-4DB9-7837D85EECDD}"/>
              </a:ext>
            </a:extLst>
          </p:cNvPr>
          <p:cNvSpPr txBox="1"/>
          <p:nvPr/>
        </p:nvSpPr>
        <p:spPr>
          <a:xfrm>
            <a:off x="1634632" y="5513200"/>
            <a:ext cx="110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Region 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B5473B-DE39-905A-70C3-EDCBFE5A9E01}"/>
              </a:ext>
            </a:extLst>
          </p:cNvPr>
          <p:cNvSpPr txBox="1"/>
          <p:nvPr/>
        </p:nvSpPr>
        <p:spPr>
          <a:xfrm>
            <a:off x="3238580" y="5534153"/>
            <a:ext cx="120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Culture 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9F7F2D-4D1B-F3A3-DEC2-B337D549569B}"/>
              </a:ext>
            </a:extLst>
          </p:cNvPr>
          <p:cNvSpPr txBox="1"/>
          <p:nvPr/>
        </p:nvSpPr>
        <p:spPr>
          <a:xfrm>
            <a:off x="4754562" y="5503249"/>
            <a:ext cx="121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Accuracy 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2C6149-0199-1A40-D635-76C430CD1DF2}"/>
              </a:ext>
            </a:extLst>
          </p:cNvPr>
          <p:cNvSpPr txBox="1"/>
          <p:nvPr/>
        </p:nvSpPr>
        <p:spPr>
          <a:xfrm>
            <a:off x="6257114" y="5522255"/>
            <a:ext cx="132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Comments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C84190-1696-73F5-E435-1600D5D8F440}"/>
              </a:ext>
            </a:extLst>
          </p:cNvPr>
          <p:cNvSpPr txBox="1"/>
          <p:nvPr/>
        </p:nvSpPr>
        <p:spPr>
          <a:xfrm>
            <a:off x="8028713" y="5525934"/>
            <a:ext cx="120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Guide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74D9E1-F510-4EB2-B710-55EBED9038A9}"/>
              </a:ext>
            </a:extLst>
          </p:cNvPr>
          <p:cNvSpPr txBox="1"/>
          <p:nvPr/>
        </p:nvSpPr>
        <p:spPr>
          <a:xfrm>
            <a:off x="9595159" y="5521076"/>
            <a:ext cx="120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Forum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7882AD-895F-D577-FB8F-19D0E97538DA}"/>
              </a:ext>
            </a:extLst>
          </p:cNvPr>
          <p:cNvSpPr txBox="1"/>
          <p:nvPr/>
        </p:nvSpPr>
        <p:spPr>
          <a:xfrm>
            <a:off x="2074875" y="4822600"/>
            <a:ext cx="2555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Content result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D46CF-5EB2-990F-76DD-6D270FF5D89F}"/>
              </a:ext>
            </a:extLst>
          </p:cNvPr>
          <p:cNvSpPr txBox="1"/>
          <p:nvPr/>
        </p:nvSpPr>
        <p:spPr>
          <a:xfrm>
            <a:off x="5188936" y="4819707"/>
            <a:ext cx="260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 Feedback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15083D-FA6A-A6B4-CC21-C4A6FA070ECC}"/>
              </a:ext>
            </a:extLst>
          </p:cNvPr>
          <p:cNvSpPr txBox="1"/>
          <p:nvPr/>
        </p:nvSpPr>
        <p:spPr>
          <a:xfrm>
            <a:off x="8071266" y="4810756"/>
            <a:ext cx="232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Discovery Resources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0656FB-675D-0B42-0D47-F04A38C605E3}"/>
              </a:ext>
            </a:extLst>
          </p:cNvPr>
          <p:cNvSpPr txBox="1"/>
          <p:nvPr/>
        </p:nvSpPr>
        <p:spPr>
          <a:xfrm>
            <a:off x="2074875" y="4125196"/>
            <a:ext cx="178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5D5EF-44DA-6C0F-B6EA-D1080D5798BA}"/>
              </a:ext>
            </a:extLst>
          </p:cNvPr>
          <p:cNvSpPr txBox="1"/>
          <p:nvPr/>
        </p:nvSpPr>
        <p:spPr>
          <a:xfrm>
            <a:off x="4478159" y="4108366"/>
            <a:ext cx="169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Sort 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9824D8-6D1A-4FC1-C331-C1448073FCD4}"/>
              </a:ext>
            </a:extLst>
          </p:cNvPr>
          <p:cNvSpPr txBox="1"/>
          <p:nvPr/>
        </p:nvSpPr>
        <p:spPr>
          <a:xfrm>
            <a:off x="6610305" y="4117159"/>
            <a:ext cx="168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AI Match 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1F4DD5-89AA-C7CB-3138-2EBA3BB49D4E}"/>
              </a:ext>
            </a:extLst>
          </p:cNvPr>
          <p:cNvSpPr txBox="1"/>
          <p:nvPr/>
        </p:nvSpPr>
        <p:spPr>
          <a:xfrm>
            <a:off x="9047609" y="4100436"/>
            <a:ext cx="1710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Display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ADB43-0030-868A-1577-06E58C011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14" y="-867"/>
            <a:ext cx="1702210" cy="113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40091"/>
            <a:ext cx="10271760" cy="189733"/>
          </a:xfrm>
        </p:spPr>
        <p:txBody>
          <a:bodyPr wrap="square" anchor="ctr"/>
          <a:lstStyle/>
          <a:p>
            <a:pPr algn="ctr" eaLnBrk="1" hangingPunct="1"/>
            <a:r>
              <a:rPr sz="2800" b="1" dirty="0">
                <a:solidFill>
                  <a:srgbClr val="182B41"/>
                </a:solidFill>
                <a:latin typeface="Aptos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5C6670"/>
                </a:solidFill>
                <a:latin typeface="Aptos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448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9FD420-F10D-FEBD-73C1-0879431FB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" y="-867"/>
            <a:ext cx="1702210" cy="11348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EFDF0E-D4E9-CA55-C659-DD619AD4E52C}"/>
              </a:ext>
            </a:extLst>
          </p:cNvPr>
          <p:cNvSpPr txBox="1"/>
          <p:nvPr/>
        </p:nvSpPr>
        <p:spPr>
          <a:xfrm>
            <a:off x="393290" y="1536174"/>
            <a:ext cx="58993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Uses existing web, cloud, AI, database and mapping technologies.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Can begin with a limited number of pilot states instead of covering all of India immediately.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Content can be expanded gradually through partnerships and expert contributions.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Modular architecture allows new states, languages and features to be added over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Platform can be designed for low-bandwidth users and different device types.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system is planned to scale from an MVP to a nationwide platform. 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945715" y="326587"/>
            <a:ext cx="4284334" cy="503237"/>
          </a:xfrm>
        </p:spPr>
        <p:txBody>
          <a:bodyPr wrap="square" anchor="ctr"/>
          <a:lstStyle/>
          <a:p>
            <a:pPr algn="ctr" eaLnBrk="1" hangingPunct="1"/>
            <a:r>
              <a:rPr lang="en-GB" sz="2800" b="1" dirty="0">
                <a:solidFill>
                  <a:srgbClr val="182B41"/>
                </a:solidFill>
                <a:latin typeface="Aptos"/>
              </a:rPr>
              <a:t>WORKFLOW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5C6670"/>
                </a:solidFill>
                <a:latin typeface="Aptos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7" y="-1734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1A9364-C9F3-916A-EEF4-A45F33F592C8}"/>
              </a:ext>
            </a:extLst>
          </p:cNvPr>
          <p:cNvSpPr/>
          <p:nvPr/>
        </p:nvSpPr>
        <p:spPr>
          <a:xfrm>
            <a:off x="719528" y="1413023"/>
            <a:ext cx="1798820" cy="6820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Culture AI 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3EECD7-6F1D-DE29-3A32-2AE346C78BF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518348" y="1754050"/>
            <a:ext cx="4047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397DDE-0209-A09C-2DA2-DDC222BADC97}"/>
              </a:ext>
            </a:extLst>
          </p:cNvPr>
          <p:cNvSpPr/>
          <p:nvPr/>
        </p:nvSpPr>
        <p:spPr>
          <a:xfrm>
            <a:off x="2923082" y="1499017"/>
            <a:ext cx="1866276" cy="590496"/>
          </a:xfrm>
          <a:prstGeom prst="roundRect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User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3C61DC0-282E-32A5-46E4-8E48C00ABA7C}"/>
              </a:ext>
            </a:extLst>
          </p:cNvPr>
          <p:cNvSpPr/>
          <p:nvPr/>
        </p:nvSpPr>
        <p:spPr>
          <a:xfrm>
            <a:off x="2923083" y="2352690"/>
            <a:ext cx="1866276" cy="5239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Pick Region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F1B1A61-069E-C5B4-5B07-2EFB6A571BA2}"/>
              </a:ext>
            </a:extLst>
          </p:cNvPr>
          <p:cNvSpPr/>
          <p:nvPr/>
        </p:nvSpPr>
        <p:spPr>
          <a:xfrm>
            <a:off x="2923083" y="3239493"/>
            <a:ext cx="1866275" cy="47708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Choose Interest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588D7B-915E-7D97-4B20-5A8CA87E6A7B}"/>
              </a:ext>
            </a:extLst>
          </p:cNvPr>
          <p:cNvSpPr/>
          <p:nvPr/>
        </p:nvSpPr>
        <p:spPr>
          <a:xfrm>
            <a:off x="2923083" y="4078942"/>
            <a:ext cx="1866276" cy="5032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Choose Curation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FDB4C6C-F7D2-1C74-813C-54C764312F20}"/>
              </a:ext>
            </a:extLst>
          </p:cNvPr>
          <p:cNvSpPr/>
          <p:nvPr/>
        </p:nvSpPr>
        <p:spPr>
          <a:xfrm>
            <a:off x="2927757" y="4912094"/>
            <a:ext cx="1783832" cy="5398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AI Matching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620621-DEFB-2FDF-5AD6-40156B9CD787}"/>
              </a:ext>
            </a:extLst>
          </p:cNvPr>
          <p:cNvSpPr/>
          <p:nvPr/>
        </p:nvSpPr>
        <p:spPr>
          <a:xfrm>
            <a:off x="5164113" y="4736079"/>
            <a:ext cx="1888762" cy="50323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Content Delivery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C829B8-B582-F11F-2EA4-B28673DA8FAD}"/>
              </a:ext>
            </a:extLst>
          </p:cNvPr>
          <p:cNvSpPr/>
          <p:nvPr/>
        </p:nvSpPr>
        <p:spPr>
          <a:xfrm>
            <a:off x="5141628" y="5592869"/>
            <a:ext cx="1933731" cy="50323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Engagement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FD9615-42F5-76B5-CD0F-EDA8325C2152}"/>
              </a:ext>
            </a:extLst>
          </p:cNvPr>
          <p:cNvSpPr/>
          <p:nvPr/>
        </p:nvSpPr>
        <p:spPr>
          <a:xfrm>
            <a:off x="7540379" y="5714671"/>
            <a:ext cx="1893431" cy="50323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Story Mode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95C28C2-608F-0CAE-61CB-CD1D00412FFC}"/>
              </a:ext>
            </a:extLst>
          </p:cNvPr>
          <p:cNvSpPr/>
          <p:nvPr/>
        </p:nvSpPr>
        <p:spPr>
          <a:xfrm>
            <a:off x="9841366" y="5259405"/>
            <a:ext cx="1820982" cy="5387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Progress Update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C70326-D7B2-8A73-D7F9-FA36EC6EF7A8}"/>
              </a:ext>
            </a:extLst>
          </p:cNvPr>
          <p:cNvSpPr/>
          <p:nvPr/>
        </p:nvSpPr>
        <p:spPr>
          <a:xfrm>
            <a:off x="9841366" y="4466327"/>
            <a:ext cx="1820982" cy="5387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Achievement Unlock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365ECF4-56A9-5DE8-E115-58268BDFC83E}"/>
              </a:ext>
            </a:extLst>
          </p:cNvPr>
          <p:cNvSpPr/>
          <p:nvPr/>
        </p:nvSpPr>
        <p:spPr>
          <a:xfrm>
            <a:off x="9841367" y="3605133"/>
            <a:ext cx="1820982" cy="53877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Leaderboard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83E1E06-D719-6946-ECAF-808FF93EB026}"/>
              </a:ext>
            </a:extLst>
          </p:cNvPr>
          <p:cNvSpPr/>
          <p:nvPr/>
        </p:nvSpPr>
        <p:spPr>
          <a:xfrm>
            <a:off x="9841367" y="2773180"/>
            <a:ext cx="1820981" cy="5776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User Feedback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42BFE41-0F92-CB54-8896-A760DAC67872}"/>
              </a:ext>
            </a:extLst>
          </p:cNvPr>
          <p:cNvSpPr/>
          <p:nvPr/>
        </p:nvSpPr>
        <p:spPr>
          <a:xfrm>
            <a:off x="7460431" y="4977600"/>
            <a:ext cx="1893431" cy="538780"/>
          </a:xfrm>
          <a:prstGeom prst="roundRect">
            <a:avLst>
              <a:gd name="adj" fmla="val 26431"/>
            </a:avLst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Quiz Mode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D3EAAD-5897-F2CF-81E4-D680EE65396F}"/>
              </a:ext>
            </a:extLst>
          </p:cNvPr>
          <p:cNvSpPr/>
          <p:nvPr/>
        </p:nvSpPr>
        <p:spPr>
          <a:xfrm>
            <a:off x="5077918" y="3744314"/>
            <a:ext cx="2061149" cy="52391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Badge Reward 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3ACCF0-6E33-FDF4-C0EE-8572A86617EC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3856220" y="2089513"/>
            <a:ext cx="1" cy="263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16D9DA4-507E-47B4-B999-3532D53CF188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3856221" y="2876607"/>
            <a:ext cx="0" cy="362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7E35809-BD1C-6FFF-DAF3-0B00AB354619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3856221" y="3716580"/>
            <a:ext cx="0" cy="362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E803DA8-8A47-C9D8-B785-012C7DA9D015}"/>
              </a:ext>
            </a:extLst>
          </p:cNvPr>
          <p:cNvCxnSpPr>
            <a:cxnSpLocks/>
            <a:stCxn id="23" idx="0"/>
            <a:endCxn id="32" idx="2"/>
          </p:cNvCxnSpPr>
          <p:nvPr/>
        </p:nvCxnSpPr>
        <p:spPr>
          <a:xfrm flipH="1" flipV="1">
            <a:off x="6108493" y="4268231"/>
            <a:ext cx="1" cy="467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8AEE32B-ACEB-C432-E204-CBE5882F8727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108494" y="5239317"/>
            <a:ext cx="0" cy="353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Straight Arrow Connector 17430">
            <a:extLst>
              <a:ext uri="{FF2B5EF4-FFF2-40B4-BE49-F238E27FC236}">
                <a16:creationId xmlns:a16="http://schemas.microsoft.com/office/drawing/2014/main" id="{BE93038C-327E-7614-7BD4-E17D2F5C2914}"/>
              </a:ext>
            </a:extLst>
          </p:cNvPr>
          <p:cNvCxnSpPr/>
          <p:nvPr/>
        </p:nvCxnSpPr>
        <p:spPr>
          <a:xfrm>
            <a:off x="4711589" y="5089161"/>
            <a:ext cx="4525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Straight Arrow Connector 17433">
            <a:extLst>
              <a:ext uri="{FF2B5EF4-FFF2-40B4-BE49-F238E27FC236}">
                <a16:creationId xmlns:a16="http://schemas.microsoft.com/office/drawing/2014/main" id="{218A5042-8856-A4CA-65BE-F627689037A9}"/>
              </a:ext>
            </a:extLst>
          </p:cNvPr>
          <p:cNvCxnSpPr>
            <a:cxnSpLocks/>
          </p:cNvCxnSpPr>
          <p:nvPr/>
        </p:nvCxnSpPr>
        <p:spPr>
          <a:xfrm flipV="1">
            <a:off x="7067864" y="5394100"/>
            <a:ext cx="362587" cy="269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Straight Arrow Connector 17436">
            <a:extLst>
              <a:ext uri="{FF2B5EF4-FFF2-40B4-BE49-F238E27FC236}">
                <a16:creationId xmlns:a16="http://schemas.microsoft.com/office/drawing/2014/main" id="{D7470E23-39C8-185D-849E-178C2BB517B3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>
            <a:off x="7075359" y="5844488"/>
            <a:ext cx="465020" cy="121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9" name="Straight Arrow Connector 17438">
            <a:extLst>
              <a:ext uri="{FF2B5EF4-FFF2-40B4-BE49-F238E27FC236}">
                <a16:creationId xmlns:a16="http://schemas.microsoft.com/office/drawing/2014/main" id="{01B53341-4CDF-FCB2-2D5C-1C0FC9786F60}"/>
              </a:ext>
            </a:extLst>
          </p:cNvPr>
          <p:cNvCxnSpPr>
            <a:stCxn id="31" idx="3"/>
            <a:endCxn id="27" idx="1"/>
          </p:cNvCxnSpPr>
          <p:nvPr/>
        </p:nvCxnSpPr>
        <p:spPr>
          <a:xfrm>
            <a:off x="9353862" y="5246990"/>
            <a:ext cx="487504" cy="2818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1" name="Straight Arrow Connector 17440">
            <a:extLst>
              <a:ext uri="{FF2B5EF4-FFF2-40B4-BE49-F238E27FC236}">
                <a16:creationId xmlns:a16="http://schemas.microsoft.com/office/drawing/2014/main" id="{ED8B5DF2-01C2-6DC5-0BE1-8BFB920BEF92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9433810" y="5528795"/>
            <a:ext cx="407556" cy="4374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3" name="Straight Arrow Connector 17442">
            <a:extLst>
              <a:ext uri="{FF2B5EF4-FFF2-40B4-BE49-F238E27FC236}">
                <a16:creationId xmlns:a16="http://schemas.microsoft.com/office/drawing/2014/main" id="{6CE955C2-03CB-55D0-057D-8D4D0EFE9C8C}"/>
              </a:ext>
            </a:extLst>
          </p:cNvPr>
          <p:cNvCxnSpPr>
            <a:stCxn id="27" idx="0"/>
            <a:endCxn id="28" idx="2"/>
          </p:cNvCxnSpPr>
          <p:nvPr/>
        </p:nvCxnSpPr>
        <p:spPr>
          <a:xfrm flipV="1">
            <a:off x="10751857" y="5005107"/>
            <a:ext cx="0" cy="2542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5" name="Straight Arrow Connector 17444">
            <a:extLst>
              <a:ext uri="{FF2B5EF4-FFF2-40B4-BE49-F238E27FC236}">
                <a16:creationId xmlns:a16="http://schemas.microsoft.com/office/drawing/2014/main" id="{2971F7FB-71BD-4781-62A2-CBCACF3C17AD}"/>
              </a:ext>
            </a:extLst>
          </p:cNvPr>
          <p:cNvCxnSpPr>
            <a:stCxn id="28" idx="0"/>
            <a:endCxn id="29" idx="2"/>
          </p:cNvCxnSpPr>
          <p:nvPr/>
        </p:nvCxnSpPr>
        <p:spPr>
          <a:xfrm flipV="1">
            <a:off x="10751857" y="4143912"/>
            <a:ext cx="1" cy="322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7" name="Straight Arrow Connector 17446">
            <a:extLst>
              <a:ext uri="{FF2B5EF4-FFF2-40B4-BE49-F238E27FC236}">
                <a16:creationId xmlns:a16="http://schemas.microsoft.com/office/drawing/2014/main" id="{BB8DA748-D2DE-273B-3AE5-939FF020D4AC}"/>
              </a:ext>
            </a:extLst>
          </p:cNvPr>
          <p:cNvCxnSpPr>
            <a:stCxn id="29" idx="0"/>
            <a:endCxn id="30" idx="2"/>
          </p:cNvCxnSpPr>
          <p:nvPr/>
        </p:nvCxnSpPr>
        <p:spPr>
          <a:xfrm flipV="1">
            <a:off x="10751858" y="3350835"/>
            <a:ext cx="0" cy="2542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3" name="Straight Arrow Connector 17452">
            <a:extLst>
              <a:ext uri="{FF2B5EF4-FFF2-40B4-BE49-F238E27FC236}">
                <a16:creationId xmlns:a16="http://schemas.microsoft.com/office/drawing/2014/main" id="{FA5B4D3E-5114-771F-600C-6BA1F58B4647}"/>
              </a:ext>
            </a:extLst>
          </p:cNvPr>
          <p:cNvCxnSpPr>
            <a:cxnSpLocks/>
          </p:cNvCxnSpPr>
          <p:nvPr/>
        </p:nvCxnSpPr>
        <p:spPr>
          <a:xfrm>
            <a:off x="3892769" y="4565131"/>
            <a:ext cx="0" cy="412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91349CE-133D-6A5A-A83C-2A5F0F97E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" y="-867"/>
            <a:ext cx="1702210" cy="113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88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5F3F-9E6F-6C6A-32F3-D966616F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CD308A-40CA-0240-692F-DD64B1DE6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6551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353A699-BE7B-737C-84BD-407E0A323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074" y="263872"/>
            <a:ext cx="4983540" cy="539405"/>
          </a:xfrm>
        </p:spPr>
        <p:txBody>
          <a:bodyPr wrap="square" anchor="ctr"/>
          <a:lstStyle/>
          <a:p>
            <a:pPr algn="ctr" eaLnBrk="1" hangingPunct="1"/>
            <a:r>
              <a:rPr sz="2800" b="1" dirty="0">
                <a:solidFill>
                  <a:srgbClr val="182B41"/>
                </a:solidFill>
                <a:latin typeface="Aptos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6FB25-0386-7CB9-DDDB-AB3642CF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5C6670"/>
                </a:solidFill>
                <a:latin typeface="Aptos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AE3A8BD4-0E18-E5BE-6236-6FD82216A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192" y="-17691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38018F-5E49-3B2F-35C8-5CD565EED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" y="-867"/>
            <a:ext cx="1702210" cy="1134806"/>
          </a:xfrm>
          <a:prstGeom prst="rect">
            <a:avLst/>
          </a:prstGeom>
        </p:spPr>
      </p:pic>
      <p:grpSp>
        <p:nvGrpSpPr>
          <p:cNvPr id="17411" name="Group 17410">
            <a:extLst>
              <a:ext uri="{FF2B5EF4-FFF2-40B4-BE49-F238E27FC236}">
                <a16:creationId xmlns:a16="http://schemas.microsoft.com/office/drawing/2014/main" id="{19D282AA-0958-B422-E93B-8820274B18C0}"/>
              </a:ext>
            </a:extLst>
          </p:cNvPr>
          <p:cNvGrpSpPr/>
          <p:nvPr/>
        </p:nvGrpSpPr>
        <p:grpSpPr>
          <a:xfrm>
            <a:off x="135980" y="1059231"/>
            <a:ext cx="6919930" cy="5182052"/>
            <a:chOff x="431733" y="1140174"/>
            <a:chExt cx="6743185" cy="4891503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E3B75D64-B247-22E5-9D4F-B81AC5EAA894}"/>
                </a:ext>
              </a:extLst>
            </p:cNvPr>
            <p:cNvSpPr/>
            <p:nvPr/>
          </p:nvSpPr>
          <p:spPr>
            <a:xfrm>
              <a:off x="3272161" y="2576756"/>
              <a:ext cx="1024672" cy="104507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C9962C"/>
              </a:solidFill>
              <a:prstDash val="solid"/>
            </a:ln>
            <a:effectLst>
              <a:outerShdw blurRad="127000" dist="38100" dir="5400000" algn="bl" rotWithShape="0">
                <a:srgbClr val="1B2A4A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0">
              <a:extLst>
                <a:ext uri="{FF2B5EF4-FFF2-40B4-BE49-F238E27FC236}">
                  <a16:creationId xmlns:a16="http://schemas.microsoft.com/office/drawing/2014/main" id="{CE246122-2E62-9290-DB5C-540E4C1BF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97628" y="2721582"/>
              <a:ext cx="378683" cy="386223"/>
            </a:xfrm>
            <a:prstGeom prst="rect">
              <a:avLst/>
            </a:prstGeom>
          </p:spPr>
        </p:pic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E4451A75-6A23-FD16-897F-67FDE29D11A4}"/>
                </a:ext>
              </a:extLst>
            </p:cNvPr>
            <p:cNvSpPr/>
            <p:nvPr/>
          </p:nvSpPr>
          <p:spPr>
            <a:xfrm>
              <a:off x="3240079" y="3140853"/>
              <a:ext cx="1113774" cy="227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700" b="1" dirty="0">
                  <a:solidFill>
                    <a:srgbClr val="1B2A4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VIRASAT</a:t>
              </a:r>
              <a:endParaRPr lang="en-US" sz="1700" dirty="0"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011A1004-F51F-CF5A-8257-B1FF05C7FDBA}"/>
                </a:ext>
              </a:extLst>
            </p:cNvPr>
            <p:cNvSpPr/>
            <p:nvPr/>
          </p:nvSpPr>
          <p:spPr>
            <a:xfrm>
              <a:off x="2745902" y="2480201"/>
              <a:ext cx="570883" cy="405804"/>
            </a:xfrm>
            <a:prstGeom prst="line">
              <a:avLst/>
            </a:prstGeom>
            <a:noFill/>
            <a:ln w="22225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31F9508A-3ACB-F1D2-FC5B-E126011DF9AA}"/>
                </a:ext>
              </a:extLst>
            </p:cNvPr>
            <p:cNvSpPr/>
            <p:nvPr/>
          </p:nvSpPr>
          <p:spPr>
            <a:xfrm>
              <a:off x="2723726" y="2453887"/>
              <a:ext cx="55689" cy="56797"/>
            </a:xfrm>
            <a:prstGeom prst="ellipse">
              <a:avLst/>
            </a:prstGeom>
            <a:solidFill>
              <a:srgbClr val="8E44A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B8E1EFC3-CBC1-4A72-0704-EE12D5ACB443}"/>
                </a:ext>
              </a:extLst>
            </p:cNvPr>
            <p:cNvSpPr/>
            <p:nvPr/>
          </p:nvSpPr>
          <p:spPr>
            <a:xfrm>
              <a:off x="3787437" y="1999919"/>
              <a:ext cx="0" cy="578322"/>
            </a:xfrm>
            <a:prstGeom prst="line">
              <a:avLst/>
            </a:prstGeom>
            <a:noFill/>
            <a:ln w="22225">
              <a:solidFill>
                <a:srgbClr val="43A04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312ADA8D-E47A-AAE1-ACA2-DD45F59DC40F}"/>
                </a:ext>
              </a:extLst>
            </p:cNvPr>
            <p:cNvSpPr/>
            <p:nvPr/>
          </p:nvSpPr>
          <p:spPr>
            <a:xfrm>
              <a:off x="3759592" y="2242841"/>
              <a:ext cx="55689" cy="56797"/>
            </a:xfrm>
            <a:prstGeom prst="ellipse">
              <a:avLst/>
            </a:prstGeom>
            <a:solidFill>
              <a:srgbClr val="43A047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CE0BAD0E-1865-77D9-6E43-7B8F1B9EB83E}"/>
                </a:ext>
              </a:extLst>
            </p:cNvPr>
            <p:cNvSpPr/>
            <p:nvPr/>
          </p:nvSpPr>
          <p:spPr>
            <a:xfrm flipH="1">
              <a:off x="4217933" y="2475689"/>
              <a:ext cx="646907" cy="348887"/>
            </a:xfrm>
            <a:prstGeom prst="line">
              <a:avLst/>
            </a:prstGeom>
            <a:noFill/>
            <a:ln w="22225">
              <a:solidFill>
                <a:srgbClr val="FB8C00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1" name="Shape 11">
              <a:extLst>
                <a:ext uri="{FF2B5EF4-FFF2-40B4-BE49-F238E27FC236}">
                  <a16:creationId xmlns:a16="http://schemas.microsoft.com/office/drawing/2014/main" id="{2CC0D29F-23F8-F7E8-99A0-8A2C4763C8F6}"/>
                </a:ext>
              </a:extLst>
            </p:cNvPr>
            <p:cNvSpPr/>
            <p:nvPr/>
          </p:nvSpPr>
          <p:spPr>
            <a:xfrm>
              <a:off x="4811781" y="2454909"/>
              <a:ext cx="55689" cy="56797"/>
            </a:xfrm>
            <a:prstGeom prst="ellipse">
              <a:avLst/>
            </a:prstGeom>
            <a:solidFill>
              <a:srgbClr val="FB8C0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Shape 12">
              <a:extLst>
                <a:ext uri="{FF2B5EF4-FFF2-40B4-BE49-F238E27FC236}">
                  <a16:creationId xmlns:a16="http://schemas.microsoft.com/office/drawing/2014/main" id="{3E34187B-6223-3C43-340F-A27F78C31365}"/>
                </a:ext>
              </a:extLst>
            </p:cNvPr>
            <p:cNvSpPr/>
            <p:nvPr/>
          </p:nvSpPr>
          <p:spPr>
            <a:xfrm>
              <a:off x="724403" y="3099293"/>
              <a:ext cx="2547759" cy="5680"/>
            </a:xfrm>
            <a:prstGeom prst="line">
              <a:avLst/>
            </a:prstGeom>
            <a:noFill/>
            <a:ln w="22225">
              <a:solidFill>
                <a:srgbClr val="E53E5E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7D2D2E1D-A3D1-840E-8520-3080D65BCBB0}"/>
                </a:ext>
              </a:extLst>
            </p:cNvPr>
            <p:cNvSpPr/>
            <p:nvPr/>
          </p:nvSpPr>
          <p:spPr>
            <a:xfrm>
              <a:off x="2752561" y="3078347"/>
              <a:ext cx="55689" cy="56797"/>
            </a:xfrm>
            <a:prstGeom prst="ellipse">
              <a:avLst/>
            </a:prstGeom>
            <a:solidFill>
              <a:srgbClr val="E53E5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B1C5B01C-75E8-74C8-9D49-C82667B97DD2}"/>
                </a:ext>
              </a:extLst>
            </p:cNvPr>
            <p:cNvSpPr/>
            <p:nvPr/>
          </p:nvSpPr>
          <p:spPr>
            <a:xfrm flipH="1">
              <a:off x="4296832" y="3104973"/>
              <a:ext cx="495629" cy="0"/>
            </a:xfrm>
            <a:prstGeom prst="line">
              <a:avLst/>
            </a:prstGeom>
            <a:noFill/>
            <a:ln w="22225">
              <a:solidFill>
                <a:srgbClr val="1E88E5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Shape 15">
              <a:extLst>
                <a:ext uri="{FF2B5EF4-FFF2-40B4-BE49-F238E27FC236}">
                  <a16:creationId xmlns:a16="http://schemas.microsoft.com/office/drawing/2014/main" id="{FC6E474D-8A1F-6986-442B-63F37AC6FA86}"/>
                </a:ext>
              </a:extLst>
            </p:cNvPr>
            <p:cNvSpPr/>
            <p:nvPr/>
          </p:nvSpPr>
          <p:spPr>
            <a:xfrm>
              <a:off x="4763271" y="3079406"/>
              <a:ext cx="55689" cy="56797"/>
            </a:xfrm>
            <a:prstGeom prst="ellipse">
              <a:avLst/>
            </a:prstGeom>
            <a:solidFill>
              <a:srgbClr val="1E88E5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3DE93F4D-8EF7-3B45-8E03-FB4DCDA1A843}"/>
                </a:ext>
              </a:extLst>
            </p:cNvPr>
            <p:cNvSpPr/>
            <p:nvPr/>
          </p:nvSpPr>
          <p:spPr>
            <a:xfrm flipV="1">
              <a:off x="2201517" y="3403924"/>
              <a:ext cx="1179237" cy="872387"/>
            </a:xfrm>
            <a:prstGeom prst="line">
              <a:avLst/>
            </a:prstGeom>
            <a:noFill/>
            <a:ln w="22225">
              <a:solidFill>
                <a:srgbClr val="00897B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" name="Shape 17">
              <a:extLst>
                <a:ext uri="{FF2B5EF4-FFF2-40B4-BE49-F238E27FC236}">
                  <a16:creationId xmlns:a16="http://schemas.microsoft.com/office/drawing/2014/main" id="{4F0BF1B0-4B8D-C8E3-CF26-F0129814B3EF}"/>
                </a:ext>
              </a:extLst>
            </p:cNvPr>
            <p:cNvSpPr/>
            <p:nvPr/>
          </p:nvSpPr>
          <p:spPr>
            <a:xfrm>
              <a:off x="2810889" y="3781131"/>
              <a:ext cx="55689" cy="56797"/>
            </a:xfrm>
            <a:prstGeom prst="ellipse">
              <a:avLst/>
            </a:prstGeom>
            <a:solidFill>
              <a:srgbClr val="00897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Shape 18">
              <a:extLst>
                <a:ext uri="{FF2B5EF4-FFF2-40B4-BE49-F238E27FC236}">
                  <a16:creationId xmlns:a16="http://schemas.microsoft.com/office/drawing/2014/main" id="{3D16B3E1-736C-F458-4DCA-ACA8F8CF966C}"/>
                </a:ext>
              </a:extLst>
            </p:cNvPr>
            <p:cNvSpPr/>
            <p:nvPr/>
          </p:nvSpPr>
          <p:spPr>
            <a:xfrm flipH="1" flipV="1">
              <a:off x="3786358" y="3617814"/>
              <a:ext cx="1079" cy="987870"/>
            </a:xfrm>
            <a:prstGeom prst="line">
              <a:avLst/>
            </a:prstGeom>
            <a:noFill/>
            <a:ln w="22225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Shape 19">
              <a:extLst>
                <a:ext uri="{FF2B5EF4-FFF2-40B4-BE49-F238E27FC236}">
                  <a16:creationId xmlns:a16="http://schemas.microsoft.com/office/drawing/2014/main" id="{21FF578A-2F66-9CC8-F62C-EB50AFBC32BD}"/>
                </a:ext>
              </a:extLst>
            </p:cNvPr>
            <p:cNvSpPr/>
            <p:nvPr/>
          </p:nvSpPr>
          <p:spPr>
            <a:xfrm>
              <a:off x="3759592" y="4135926"/>
              <a:ext cx="55689" cy="56797"/>
            </a:xfrm>
            <a:prstGeom prst="ellipse">
              <a:avLst/>
            </a:prstGeom>
            <a:solidFill>
              <a:srgbClr val="8E44A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Shape 20">
              <a:extLst>
                <a:ext uri="{FF2B5EF4-FFF2-40B4-BE49-F238E27FC236}">
                  <a16:creationId xmlns:a16="http://schemas.microsoft.com/office/drawing/2014/main" id="{C9B444E0-DB5D-7CC9-7197-B09165603DE7}"/>
                </a:ext>
              </a:extLst>
            </p:cNvPr>
            <p:cNvSpPr/>
            <p:nvPr/>
          </p:nvSpPr>
          <p:spPr>
            <a:xfrm flipH="1" flipV="1">
              <a:off x="4187152" y="3417298"/>
              <a:ext cx="1150993" cy="816897"/>
            </a:xfrm>
            <a:prstGeom prst="line">
              <a:avLst/>
            </a:prstGeom>
            <a:noFill/>
            <a:ln w="22225">
              <a:solidFill>
                <a:srgbClr val="F4511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1">
              <a:extLst>
                <a:ext uri="{FF2B5EF4-FFF2-40B4-BE49-F238E27FC236}">
                  <a16:creationId xmlns:a16="http://schemas.microsoft.com/office/drawing/2014/main" id="{3D95E64A-6392-5AE0-76B2-BE8F74B1DD0F}"/>
                </a:ext>
              </a:extLst>
            </p:cNvPr>
            <p:cNvSpPr/>
            <p:nvPr/>
          </p:nvSpPr>
          <p:spPr>
            <a:xfrm>
              <a:off x="4998443" y="3981321"/>
              <a:ext cx="55689" cy="56797"/>
            </a:xfrm>
            <a:prstGeom prst="ellipse">
              <a:avLst/>
            </a:prstGeom>
            <a:solidFill>
              <a:srgbClr val="F4511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Shape 22">
              <a:extLst>
                <a:ext uri="{FF2B5EF4-FFF2-40B4-BE49-F238E27FC236}">
                  <a16:creationId xmlns:a16="http://schemas.microsoft.com/office/drawing/2014/main" id="{E0E5DDBA-54D1-98F1-7682-1D6E183CF59C}"/>
                </a:ext>
              </a:extLst>
            </p:cNvPr>
            <p:cNvSpPr/>
            <p:nvPr/>
          </p:nvSpPr>
          <p:spPr>
            <a:xfrm>
              <a:off x="444087" y="1383110"/>
              <a:ext cx="2144015" cy="998455"/>
            </a:xfrm>
            <a:prstGeom prst="roundRect">
              <a:avLst>
                <a:gd name="adj" fmla="val 11765"/>
              </a:avLst>
            </a:prstGeom>
            <a:solidFill>
              <a:srgbClr val="EDE0F7"/>
            </a:solidFill>
            <a:ln/>
            <a:effectLst>
              <a:outerShdw blurRad="76200" dist="25400" dir="5400000" algn="bl" rotWithShape="0">
                <a:srgbClr val="1B2A4A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3" name="Text 23">
              <a:extLst>
                <a:ext uri="{FF2B5EF4-FFF2-40B4-BE49-F238E27FC236}">
                  <a16:creationId xmlns:a16="http://schemas.microsoft.com/office/drawing/2014/main" id="{4348C643-7FFA-AF0F-9607-6FF1496536C6}"/>
                </a:ext>
              </a:extLst>
            </p:cNvPr>
            <p:cNvSpPr/>
            <p:nvPr/>
          </p:nvSpPr>
          <p:spPr>
            <a:xfrm>
              <a:off x="544188" y="1413556"/>
              <a:ext cx="1965812" cy="898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5000"/>
                </a:lnSpc>
                <a:spcAft>
                  <a:spcPts val="300"/>
                </a:spcAft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Youth Engagement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Makes cultural learning interactive and relevant.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Uses gamification and storytelling to attract young users.</a:t>
              </a:r>
              <a:endParaRPr lang="en-US" sz="1250" dirty="0"/>
            </a:p>
          </p:txBody>
        </p:sp>
        <p:sp>
          <p:nvSpPr>
            <p:cNvPr id="34" name="Shape 24">
              <a:extLst>
                <a:ext uri="{FF2B5EF4-FFF2-40B4-BE49-F238E27FC236}">
                  <a16:creationId xmlns:a16="http://schemas.microsoft.com/office/drawing/2014/main" id="{DB81CDA8-60DE-A0CE-DC98-DF640FA65C8C}"/>
                </a:ext>
              </a:extLst>
            </p:cNvPr>
            <p:cNvSpPr/>
            <p:nvPr/>
          </p:nvSpPr>
          <p:spPr>
            <a:xfrm>
              <a:off x="2426589" y="2184151"/>
              <a:ext cx="356408" cy="363504"/>
            </a:xfrm>
            <a:prstGeom prst="ellipse">
              <a:avLst/>
            </a:prstGeom>
            <a:solidFill>
              <a:srgbClr val="8E44AD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63500" dist="25400" dir="5400000" algn="bl" rotWithShape="0">
                <a:srgbClr val="1B2A4A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35" name="Image 1">
              <a:extLst>
                <a:ext uri="{FF2B5EF4-FFF2-40B4-BE49-F238E27FC236}">
                  <a16:creationId xmlns:a16="http://schemas.microsoft.com/office/drawing/2014/main" id="{EAD12F32-DA3E-6557-C621-FBC0F09C8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87327" y="2251318"/>
              <a:ext cx="211617" cy="215830"/>
            </a:xfrm>
            <a:prstGeom prst="rect">
              <a:avLst/>
            </a:prstGeom>
          </p:spPr>
        </p:pic>
        <p:sp>
          <p:nvSpPr>
            <p:cNvPr id="36" name="Shape 25">
              <a:extLst>
                <a:ext uri="{FF2B5EF4-FFF2-40B4-BE49-F238E27FC236}">
                  <a16:creationId xmlns:a16="http://schemas.microsoft.com/office/drawing/2014/main" id="{EFAA3B51-D1E3-85DC-A85C-FC404526E33A}"/>
                </a:ext>
              </a:extLst>
            </p:cNvPr>
            <p:cNvSpPr/>
            <p:nvPr/>
          </p:nvSpPr>
          <p:spPr>
            <a:xfrm>
              <a:off x="2935314" y="1174158"/>
              <a:ext cx="1642817" cy="860103"/>
            </a:xfrm>
            <a:prstGeom prst="roundRect">
              <a:avLst>
                <a:gd name="adj" fmla="val 12245"/>
              </a:avLst>
            </a:prstGeom>
            <a:solidFill>
              <a:srgbClr val="E3F5E1"/>
            </a:solidFill>
            <a:ln/>
            <a:effectLst>
              <a:outerShdw blurRad="76200" dist="25400" dir="5400000" algn="bl" rotWithShape="0">
                <a:srgbClr val="1B2A4A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7" name="Text 26">
              <a:extLst>
                <a:ext uri="{FF2B5EF4-FFF2-40B4-BE49-F238E27FC236}">
                  <a16:creationId xmlns:a16="http://schemas.microsoft.com/office/drawing/2014/main" id="{6AE37249-0650-60F0-5C69-CCF40D0A3091}"/>
                </a:ext>
              </a:extLst>
            </p:cNvPr>
            <p:cNvSpPr/>
            <p:nvPr/>
          </p:nvSpPr>
          <p:spPr>
            <a:xfrm>
              <a:off x="3034932" y="1187061"/>
              <a:ext cx="1464613" cy="6998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5000"/>
                </a:lnSpc>
                <a:spcAft>
                  <a:spcPts val="300"/>
                </a:spcAft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Cultural Preservation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Digitally documents and preserves tangible and intangible heritage.</a:t>
              </a:r>
              <a:endParaRPr lang="en-US" sz="1250" dirty="0"/>
            </a:p>
          </p:txBody>
        </p:sp>
        <p:sp>
          <p:nvSpPr>
            <p:cNvPr id="38" name="Shape 27">
              <a:extLst>
                <a:ext uri="{FF2B5EF4-FFF2-40B4-BE49-F238E27FC236}">
                  <a16:creationId xmlns:a16="http://schemas.microsoft.com/office/drawing/2014/main" id="{CF2F0C15-C5C2-CDB0-3DF0-8F33391B1A43}"/>
                </a:ext>
              </a:extLst>
            </p:cNvPr>
            <p:cNvSpPr/>
            <p:nvPr/>
          </p:nvSpPr>
          <p:spPr>
            <a:xfrm>
              <a:off x="3609233" y="1896091"/>
              <a:ext cx="356408" cy="363504"/>
            </a:xfrm>
            <a:prstGeom prst="ellipse">
              <a:avLst/>
            </a:prstGeom>
            <a:solidFill>
              <a:srgbClr val="43A047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63500" dist="25400" dir="5400000" algn="bl" rotWithShape="0">
                <a:srgbClr val="1B2A4A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39" name="Image 2">
              <a:extLst>
                <a:ext uri="{FF2B5EF4-FFF2-40B4-BE49-F238E27FC236}">
                  <a16:creationId xmlns:a16="http://schemas.microsoft.com/office/drawing/2014/main" id="{21C27965-8AAA-14CA-0E1A-EDDCB45D7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62129" y="1959876"/>
              <a:ext cx="211617" cy="215830"/>
            </a:xfrm>
            <a:prstGeom prst="rect">
              <a:avLst/>
            </a:prstGeom>
          </p:spPr>
        </p:pic>
        <p:sp>
          <p:nvSpPr>
            <p:cNvPr id="40" name="Shape 28">
              <a:extLst>
                <a:ext uri="{FF2B5EF4-FFF2-40B4-BE49-F238E27FC236}">
                  <a16:creationId xmlns:a16="http://schemas.microsoft.com/office/drawing/2014/main" id="{A0648A29-80B3-9D31-9E2C-AFE117EC4F92}"/>
                </a:ext>
              </a:extLst>
            </p:cNvPr>
            <p:cNvSpPr/>
            <p:nvPr/>
          </p:nvSpPr>
          <p:spPr>
            <a:xfrm>
              <a:off x="4938465" y="1140174"/>
              <a:ext cx="1587128" cy="1265150"/>
            </a:xfrm>
            <a:prstGeom prst="roundRect">
              <a:avLst>
                <a:gd name="adj" fmla="val 11765"/>
              </a:avLst>
            </a:prstGeom>
            <a:solidFill>
              <a:srgbClr val="FFF1D6"/>
            </a:solidFill>
            <a:ln/>
            <a:effectLst>
              <a:outerShdw blurRad="76200" dist="25400" dir="5400000" algn="bl" rotWithShape="0">
                <a:srgbClr val="1B2A4A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1" name="Text 29">
              <a:extLst>
                <a:ext uri="{FF2B5EF4-FFF2-40B4-BE49-F238E27FC236}">
                  <a16:creationId xmlns:a16="http://schemas.microsoft.com/office/drawing/2014/main" id="{F749ECC6-95A3-980D-4480-64459A07A395}"/>
                </a:ext>
              </a:extLst>
            </p:cNvPr>
            <p:cNvSpPr/>
            <p:nvPr/>
          </p:nvSpPr>
          <p:spPr>
            <a:xfrm>
              <a:off x="5076475" y="1149613"/>
              <a:ext cx="1408924" cy="1280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5000"/>
                </a:lnSpc>
                <a:spcAft>
                  <a:spcPts val="300"/>
                </a:spcAft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Increased Cultural Awareness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Helps users understand India's diverse traditions, festivals, languages, art forms and customs.</a:t>
              </a:r>
              <a:endParaRPr lang="en-US" sz="1250" dirty="0"/>
            </a:p>
          </p:txBody>
        </p:sp>
        <p:sp>
          <p:nvSpPr>
            <p:cNvPr id="42" name="Shape 30">
              <a:extLst>
                <a:ext uri="{FF2B5EF4-FFF2-40B4-BE49-F238E27FC236}">
                  <a16:creationId xmlns:a16="http://schemas.microsoft.com/office/drawing/2014/main" id="{19B767F6-6150-98A9-FACD-2C51FF3D3581}"/>
                </a:ext>
              </a:extLst>
            </p:cNvPr>
            <p:cNvSpPr/>
            <p:nvPr/>
          </p:nvSpPr>
          <p:spPr>
            <a:xfrm>
              <a:off x="4811781" y="2197788"/>
              <a:ext cx="356408" cy="363504"/>
            </a:xfrm>
            <a:prstGeom prst="ellipse">
              <a:avLst/>
            </a:prstGeom>
            <a:solidFill>
              <a:srgbClr val="FB8C00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63500" dist="25400" dir="5400000" algn="bl" rotWithShape="0">
                <a:srgbClr val="1B2A4A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43" name="Image 3">
              <a:extLst>
                <a:ext uri="{FF2B5EF4-FFF2-40B4-BE49-F238E27FC236}">
                  <a16:creationId xmlns:a16="http://schemas.microsoft.com/office/drawing/2014/main" id="{2D80B1F0-51DD-07D8-3A35-B3EED5010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25095" y="2267478"/>
              <a:ext cx="211617" cy="215830"/>
            </a:xfrm>
            <a:prstGeom prst="rect">
              <a:avLst/>
            </a:prstGeom>
          </p:spPr>
        </p:pic>
        <p:sp>
          <p:nvSpPr>
            <p:cNvPr id="44" name="Shape 31">
              <a:extLst>
                <a:ext uri="{FF2B5EF4-FFF2-40B4-BE49-F238E27FC236}">
                  <a16:creationId xmlns:a16="http://schemas.microsoft.com/office/drawing/2014/main" id="{5B58B3A2-4A6B-032F-DAAF-AA39FE1FD04C}"/>
                </a:ext>
              </a:extLst>
            </p:cNvPr>
            <p:cNvSpPr/>
            <p:nvPr/>
          </p:nvSpPr>
          <p:spPr>
            <a:xfrm>
              <a:off x="431733" y="2647165"/>
              <a:ext cx="2144015" cy="971156"/>
            </a:xfrm>
            <a:prstGeom prst="roundRect">
              <a:avLst>
                <a:gd name="adj" fmla="val 11321"/>
              </a:avLst>
            </a:prstGeom>
            <a:solidFill>
              <a:srgbClr val="FBDCE3"/>
            </a:solidFill>
            <a:ln/>
            <a:effectLst>
              <a:outerShdw blurRad="76200" dist="25400" dir="5400000" algn="bl" rotWithShape="0">
                <a:srgbClr val="1B2A4A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5" name="Text 32">
              <a:extLst>
                <a:ext uri="{FF2B5EF4-FFF2-40B4-BE49-F238E27FC236}">
                  <a16:creationId xmlns:a16="http://schemas.microsoft.com/office/drawing/2014/main" id="{7E858AA9-D1E6-5B55-3E29-FD687B31F57D}"/>
                </a:ext>
              </a:extLst>
            </p:cNvPr>
            <p:cNvSpPr/>
            <p:nvPr/>
          </p:nvSpPr>
          <p:spPr>
            <a:xfrm>
              <a:off x="535452" y="2669310"/>
              <a:ext cx="1965812" cy="9316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5000"/>
                </a:lnSpc>
                <a:spcAft>
                  <a:spcPts val="300"/>
                </a:spcAft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Visibility for Lesser-Known Heritage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Brings attention to tribal traditions, folk arts, indigenous practices and regional cultures.</a:t>
              </a:r>
              <a:endParaRPr lang="en-US" sz="1250" dirty="0"/>
            </a:p>
          </p:txBody>
        </p:sp>
        <p:sp>
          <p:nvSpPr>
            <p:cNvPr id="46" name="Shape 33">
              <a:extLst>
                <a:ext uri="{FF2B5EF4-FFF2-40B4-BE49-F238E27FC236}">
                  <a16:creationId xmlns:a16="http://schemas.microsoft.com/office/drawing/2014/main" id="{62A316C0-A9B6-6C22-D743-5D62ADD9B39C}"/>
                </a:ext>
              </a:extLst>
            </p:cNvPr>
            <p:cNvSpPr/>
            <p:nvPr/>
          </p:nvSpPr>
          <p:spPr>
            <a:xfrm>
              <a:off x="2419820" y="2925231"/>
              <a:ext cx="356408" cy="363504"/>
            </a:xfrm>
            <a:prstGeom prst="ellipse">
              <a:avLst/>
            </a:prstGeom>
            <a:solidFill>
              <a:srgbClr val="E53E5E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63500" dist="25400" dir="5400000" algn="bl" rotWithShape="0">
                <a:srgbClr val="1B2A4A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47" name="Image 4">
              <a:extLst>
                <a:ext uri="{FF2B5EF4-FFF2-40B4-BE49-F238E27FC236}">
                  <a16:creationId xmlns:a16="http://schemas.microsoft.com/office/drawing/2014/main" id="{F466A81D-57B3-593A-2539-BBFADE078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80225" y="2999890"/>
              <a:ext cx="211617" cy="215830"/>
            </a:xfrm>
            <a:prstGeom prst="rect">
              <a:avLst/>
            </a:prstGeom>
          </p:spPr>
        </p:pic>
        <p:sp>
          <p:nvSpPr>
            <p:cNvPr id="48" name="Shape 34">
              <a:extLst>
                <a:ext uri="{FF2B5EF4-FFF2-40B4-BE49-F238E27FC236}">
                  <a16:creationId xmlns:a16="http://schemas.microsoft.com/office/drawing/2014/main" id="{A973C475-0B3D-D014-A153-81E820D17E22}"/>
                </a:ext>
              </a:extLst>
            </p:cNvPr>
            <p:cNvSpPr/>
            <p:nvPr/>
          </p:nvSpPr>
          <p:spPr>
            <a:xfrm>
              <a:off x="5030903" y="2664862"/>
              <a:ext cx="2144015" cy="995333"/>
            </a:xfrm>
            <a:prstGeom prst="roundRect">
              <a:avLst>
                <a:gd name="adj" fmla="val 11321"/>
              </a:avLst>
            </a:prstGeom>
            <a:solidFill>
              <a:srgbClr val="DCEEFB"/>
            </a:solidFill>
            <a:ln/>
            <a:effectLst>
              <a:outerShdw blurRad="76200" dist="25400" dir="5400000" algn="bl" rotWithShape="0">
                <a:srgbClr val="1B2A4A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9" name="Text 35">
              <a:extLst>
                <a:ext uri="{FF2B5EF4-FFF2-40B4-BE49-F238E27FC236}">
                  <a16:creationId xmlns:a16="http://schemas.microsoft.com/office/drawing/2014/main" id="{A10EBB27-0AB8-FAB3-FF1E-878DB39C914D}"/>
                </a:ext>
              </a:extLst>
            </p:cNvPr>
            <p:cNvSpPr/>
            <p:nvPr/>
          </p:nvSpPr>
          <p:spPr>
            <a:xfrm>
              <a:off x="5185362" y="2713235"/>
              <a:ext cx="1965812" cy="9175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5000"/>
                </a:lnSpc>
                <a:spcAft>
                  <a:spcPts val="300"/>
                </a:spcAft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Global Cultural Outreach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Makes authentic Indian cultural information accessible to diaspora communities and international audiences.</a:t>
              </a:r>
              <a:endParaRPr lang="en-US" sz="1250" dirty="0"/>
            </a:p>
          </p:txBody>
        </p:sp>
        <p:sp>
          <p:nvSpPr>
            <p:cNvPr id="50" name="Shape 36">
              <a:extLst>
                <a:ext uri="{FF2B5EF4-FFF2-40B4-BE49-F238E27FC236}">
                  <a16:creationId xmlns:a16="http://schemas.microsoft.com/office/drawing/2014/main" id="{6B31E7C9-01AB-A13F-7463-B90477E5C547}"/>
                </a:ext>
              </a:extLst>
            </p:cNvPr>
            <p:cNvSpPr/>
            <p:nvPr/>
          </p:nvSpPr>
          <p:spPr>
            <a:xfrm>
              <a:off x="4792463" y="2910817"/>
              <a:ext cx="356408" cy="363504"/>
            </a:xfrm>
            <a:prstGeom prst="ellipse">
              <a:avLst/>
            </a:prstGeom>
            <a:solidFill>
              <a:srgbClr val="1E88E5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63500" dist="25400" dir="5400000" algn="bl" rotWithShape="0">
                <a:srgbClr val="1B2A4A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51" name="Image 5">
              <a:extLst>
                <a:ext uri="{FF2B5EF4-FFF2-40B4-BE49-F238E27FC236}">
                  <a16:creationId xmlns:a16="http://schemas.microsoft.com/office/drawing/2014/main" id="{23F2BF5F-27D3-C5A7-CE86-1A1C2BF34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4858" y="2989457"/>
              <a:ext cx="211617" cy="215830"/>
            </a:xfrm>
            <a:prstGeom prst="rect">
              <a:avLst/>
            </a:prstGeom>
          </p:spPr>
        </p:pic>
        <p:sp>
          <p:nvSpPr>
            <p:cNvPr id="52" name="Shape 37">
              <a:extLst>
                <a:ext uri="{FF2B5EF4-FFF2-40B4-BE49-F238E27FC236}">
                  <a16:creationId xmlns:a16="http://schemas.microsoft.com/office/drawing/2014/main" id="{DB1B5C0D-CEB2-9987-A0C7-F536F3FBC1C9}"/>
                </a:ext>
              </a:extLst>
            </p:cNvPr>
            <p:cNvSpPr/>
            <p:nvPr/>
          </p:nvSpPr>
          <p:spPr>
            <a:xfrm>
              <a:off x="608784" y="3905227"/>
              <a:ext cx="2144015" cy="955498"/>
            </a:xfrm>
            <a:prstGeom prst="roundRect">
              <a:avLst>
                <a:gd name="adj" fmla="val 12245"/>
              </a:avLst>
            </a:prstGeom>
            <a:solidFill>
              <a:srgbClr val="D9F2EF"/>
            </a:solidFill>
            <a:ln/>
            <a:effectLst>
              <a:outerShdw blurRad="76200" dist="25400" dir="5400000" algn="bl" rotWithShape="0">
                <a:srgbClr val="1B2A4A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3" name="Text 38">
              <a:extLst>
                <a:ext uri="{FF2B5EF4-FFF2-40B4-BE49-F238E27FC236}">
                  <a16:creationId xmlns:a16="http://schemas.microsoft.com/office/drawing/2014/main" id="{E0B7987C-AE3B-C74F-5CCF-E639EA3C8C46}"/>
                </a:ext>
              </a:extLst>
            </p:cNvPr>
            <p:cNvSpPr/>
            <p:nvPr/>
          </p:nvSpPr>
          <p:spPr>
            <a:xfrm>
              <a:off x="679568" y="3928570"/>
              <a:ext cx="1965812" cy="9126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5000"/>
                </a:lnSpc>
                <a:spcAft>
                  <a:spcPts val="300"/>
                </a:spcAft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Educational Impact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Provides students and educators with an interactive resource for cultural learning and heritage projects.</a:t>
              </a:r>
              <a:endParaRPr lang="en-US" sz="1250" dirty="0"/>
            </a:p>
          </p:txBody>
        </p:sp>
        <p:sp>
          <p:nvSpPr>
            <p:cNvPr id="54" name="Shape 39">
              <a:extLst>
                <a:ext uri="{FF2B5EF4-FFF2-40B4-BE49-F238E27FC236}">
                  <a16:creationId xmlns:a16="http://schemas.microsoft.com/office/drawing/2014/main" id="{0F67C561-D1BA-66F5-EF8D-8441645DA3CD}"/>
                </a:ext>
              </a:extLst>
            </p:cNvPr>
            <p:cNvSpPr/>
            <p:nvPr/>
          </p:nvSpPr>
          <p:spPr>
            <a:xfrm>
              <a:off x="2520886" y="3741962"/>
              <a:ext cx="356408" cy="363504"/>
            </a:xfrm>
            <a:prstGeom prst="ellipse">
              <a:avLst/>
            </a:prstGeom>
            <a:solidFill>
              <a:srgbClr val="00897B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63500" dist="25400" dir="5400000" algn="bl" rotWithShape="0">
                <a:srgbClr val="1B2A4A">
                  <a:alpha val="2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55" name="Image 6">
              <a:extLst>
                <a:ext uri="{FF2B5EF4-FFF2-40B4-BE49-F238E27FC236}">
                  <a16:creationId xmlns:a16="http://schemas.microsoft.com/office/drawing/2014/main" id="{D1CAD1C5-50A2-EAF5-2AA5-6A572DE13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86033" y="3809530"/>
              <a:ext cx="211617" cy="215830"/>
            </a:xfrm>
            <a:prstGeom prst="rect">
              <a:avLst/>
            </a:prstGeom>
          </p:spPr>
        </p:pic>
        <p:sp>
          <p:nvSpPr>
            <p:cNvPr id="56" name="Shape 40">
              <a:extLst>
                <a:ext uri="{FF2B5EF4-FFF2-40B4-BE49-F238E27FC236}">
                  <a16:creationId xmlns:a16="http://schemas.microsoft.com/office/drawing/2014/main" id="{80FF2049-AFF9-8751-B3F7-9B4FF933E563}"/>
                </a:ext>
              </a:extLst>
            </p:cNvPr>
            <p:cNvSpPr/>
            <p:nvPr/>
          </p:nvSpPr>
          <p:spPr>
            <a:xfrm>
              <a:off x="3031343" y="4402437"/>
              <a:ext cx="1642817" cy="1629239"/>
            </a:xfrm>
            <a:prstGeom prst="roundRect">
              <a:avLst>
                <a:gd name="adj" fmla="val 12245"/>
              </a:avLst>
            </a:prstGeom>
            <a:solidFill>
              <a:srgbClr val="EDE0F7"/>
            </a:solidFill>
            <a:ln/>
            <a:effectLst>
              <a:outerShdw blurRad="76200" dist="25400" dir="5400000" algn="bl" rotWithShape="0">
                <a:srgbClr val="1B2A4A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7" name="Text 41">
              <a:extLst>
                <a:ext uri="{FF2B5EF4-FFF2-40B4-BE49-F238E27FC236}">
                  <a16:creationId xmlns:a16="http://schemas.microsoft.com/office/drawing/2014/main" id="{E1A8328A-50FE-6B4D-E472-F255495C830D}"/>
                </a:ext>
              </a:extLst>
            </p:cNvPr>
            <p:cNvSpPr/>
            <p:nvPr/>
          </p:nvSpPr>
          <p:spPr>
            <a:xfrm>
              <a:off x="3209547" y="4555101"/>
              <a:ext cx="1464613" cy="1476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5000"/>
                </a:lnSpc>
                <a:spcAft>
                  <a:spcPts val="300"/>
                </a:spcAft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Community Participation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Creates future opportunities for communities to contribute stories, traditions and cultural knowledge.</a:t>
              </a:r>
              <a:endParaRPr lang="en-US" sz="1250" dirty="0"/>
            </a:p>
          </p:txBody>
        </p:sp>
        <p:sp>
          <p:nvSpPr>
            <p:cNvPr id="58" name="Shape 42">
              <a:extLst>
                <a:ext uri="{FF2B5EF4-FFF2-40B4-BE49-F238E27FC236}">
                  <a16:creationId xmlns:a16="http://schemas.microsoft.com/office/drawing/2014/main" id="{0A5A6E35-FCBE-C474-F56E-AB2E7CE39787}"/>
                </a:ext>
              </a:extLst>
            </p:cNvPr>
            <p:cNvSpPr/>
            <p:nvPr/>
          </p:nvSpPr>
          <p:spPr>
            <a:xfrm>
              <a:off x="3608693" y="4171423"/>
              <a:ext cx="356408" cy="363504"/>
            </a:xfrm>
            <a:prstGeom prst="ellipse">
              <a:avLst/>
            </a:prstGeom>
            <a:solidFill>
              <a:srgbClr val="8E44AD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63500" dist="25400" dir="5400000" algn="bl" rotWithShape="0">
                <a:srgbClr val="1B2A4A">
                  <a:alpha val="2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59" name="Image 7">
              <a:extLst>
                <a:ext uri="{FF2B5EF4-FFF2-40B4-BE49-F238E27FC236}">
                  <a16:creationId xmlns:a16="http://schemas.microsoft.com/office/drawing/2014/main" id="{576D9A24-83EB-AC50-D4B3-FF249F751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78144" y="4243107"/>
              <a:ext cx="211617" cy="215830"/>
            </a:xfrm>
            <a:prstGeom prst="rect">
              <a:avLst/>
            </a:prstGeom>
          </p:spPr>
        </p:pic>
        <p:sp>
          <p:nvSpPr>
            <p:cNvPr id="60" name="Shape 43">
              <a:extLst>
                <a:ext uri="{FF2B5EF4-FFF2-40B4-BE49-F238E27FC236}">
                  <a16:creationId xmlns:a16="http://schemas.microsoft.com/office/drawing/2014/main" id="{F6954E02-3536-0074-D978-08F132CF0266}"/>
                </a:ext>
              </a:extLst>
            </p:cNvPr>
            <p:cNvSpPr/>
            <p:nvPr/>
          </p:nvSpPr>
          <p:spPr>
            <a:xfrm>
              <a:off x="5168188" y="4053850"/>
              <a:ext cx="1793017" cy="1383472"/>
            </a:xfrm>
            <a:prstGeom prst="roundRect">
              <a:avLst>
                <a:gd name="adj" fmla="val 12245"/>
              </a:avLst>
            </a:prstGeom>
            <a:solidFill>
              <a:srgbClr val="FDE3D3"/>
            </a:solidFill>
            <a:ln/>
            <a:effectLst>
              <a:outerShdw blurRad="76200" dist="25400" dir="5400000" algn="bl" rotWithShape="0">
                <a:srgbClr val="1B2A4A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 44">
              <a:extLst>
                <a:ext uri="{FF2B5EF4-FFF2-40B4-BE49-F238E27FC236}">
                  <a16:creationId xmlns:a16="http://schemas.microsoft.com/office/drawing/2014/main" id="{DE3E2EE0-F4AA-6D36-632F-D98F2B48183A}"/>
                </a:ext>
              </a:extLst>
            </p:cNvPr>
            <p:cNvSpPr/>
            <p:nvPr/>
          </p:nvSpPr>
          <p:spPr>
            <a:xfrm>
              <a:off x="5398448" y="4124502"/>
              <a:ext cx="1408924" cy="1217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5000"/>
                </a:lnSpc>
                <a:spcAft>
                  <a:spcPts val="300"/>
                </a:spcAft>
                <a:buNone/>
              </a:pPr>
              <a:r>
                <a:rPr lang="en-US" sz="125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Cultural Connectivity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Helps people explore cultures beyond their own region.</a:t>
              </a:r>
              <a:endParaRPr lang="en-US" sz="1250" dirty="0"/>
            </a:p>
            <a:p>
              <a:pPr marL="152400" indent="-152400">
                <a:lnSpc>
                  <a:spcPct val="105000"/>
                </a:lnSpc>
                <a:spcAft>
                  <a:spcPts val="200"/>
                </a:spcAft>
                <a:buSzPct val="100000"/>
                <a:buChar char="●"/>
              </a:pPr>
              <a:r>
                <a:rPr lang="en-US" sz="1000" dirty="0">
                  <a:solidFill>
                    <a:srgbClr val="2E3B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Strengthens connections with Indian heritage.</a:t>
              </a:r>
              <a:endParaRPr lang="en-US" sz="1250" dirty="0"/>
            </a:p>
          </p:txBody>
        </p:sp>
        <p:sp>
          <p:nvSpPr>
            <p:cNvPr id="62" name="Shape 45">
              <a:extLst>
                <a:ext uri="{FF2B5EF4-FFF2-40B4-BE49-F238E27FC236}">
                  <a16:creationId xmlns:a16="http://schemas.microsoft.com/office/drawing/2014/main" id="{E6C7C350-078C-330A-4478-F3E18097FD2A}"/>
                </a:ext>
              </a:extLst>
            </p:cNvPr>
            <p:cNvSpPr/>
            <p:nvPr/>
          </p:nvSpPr>
          <p:spPr>
            <a:xfrm>
              <a:off x="5007158" y="3928570"/>
              <a:ext cx="356408" cy="363504"/>
            </a:xfrm>
            <a:prstGeom prst="ellipse">
              <a:avLst/>
            </a:prstGeom>
            <a:solidFill>
              <a:srgbClr val="F4511E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63500" dist="25400" dir="5400000" algn="bl" rotWithShape="0">
                <a:srgbClr val="1B2A4A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63" name="Image 8">
              <a:extLst>
                <a:ext uri="{FF2B5EF4-FFF2-40B4-BE49-F238E27FC236}">
                  <a16:creationId xmlns:a16="http://schemas.microsoft.com/office/drawing/2014/main" id="{BC6E6910-6599-2B3F-9988-1834B0273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79553" y="3997551"/>
              <a:ext cx="211617" cy="215830"/>
            </a:xfrm>
            <a:prstGeom prst="rect">
              <a:avLst/>
            </a:prstGeom>
          </p:spPr>
        </p:pic>
      </p:grpSp>
      <p:graphicFrame>
        <p:nvGraphicFramePr>
          <p:cNvPr id="17413" name="Table 17412">
            <a:extLst>
              <a:ext uri="{FF2B5EF4-FFF2-40B4-BE49-F238E27FC236}">
                <a16:creationId xmlns:a16="http://schemas.microsoft.com/office/drawing/2014/main" id="{841500EE-E189-E797-0118-8C63C6AA5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309742"/>
              </p:ext>
            </p:extLst>
          </p:nvPr>
        </p:nvGraphicFramePr>
        <p:xfrm>
          <a:off x="7339345" y="1105177"/>
          <a:ext cx="4716675" cy="509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6675">
                  <a:extLst>
                    <a:ext uri="{9D8B030D-6E8A-4147-A177-3AD203B41FA5}">
                      <a16:colId xmlns:a16="http://schemas.microsoft.com/office/drawing/2014/main" val="1576464709"/>
                    </a:ext>
                  </a:extLst>
                </a:gridCol>
              </a:tblGrid>
              <a:tr h="32630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BENEFITS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797056"/>
                  </a:ext>
                </a:extLst>
              </a:tr>
              <a:tr h="2104634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/>
                        <a:t>Single Platform:</a:t>
                      </a:r>
                      <a:r>
                        <a:rPr lang="en-IN" sz="1600" dirty="0"/>
                        <a:t> Brings diverse cultural information together instead of requiring users to search multiple sources.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/>
                        <a:t>Easy to Explore:</a:t>
                      </a:r>
                      <a:r>
                        <a:rPr lang="en-IN" sz="1600" dirty="0"/>
                        <a:t> Interactive maps and structured categories make information easier to discover.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/>
                        <a:t>Personalized Learning:</a:t>
                      </a:r>
                      <a:r>
                        <a:rPr lang="en-IN" sz="1600" dirty="0"/>
                        <a:t> AI recommendations and conversational assistance allow users to explore topics according to their interests.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/>
                        <a:t>Interactive Learning:</a:t>
                      </a:r>
                      <a:r>
                        <a:rPr lang="en-IN" sz="1600" dirty="0"/>
                        <a:t> Quizzes, challenges, XP and badges make learning more engaging.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/>
                        <a:t>Reliable Information:</a:t>
                      </a:r>
                      <a:r>
                        <a:rPr lang="en-IN" sz="1600" dirty="0"/>
                        <a:t> Expert-reviewed content and a RAG-based AI system help maintain cultural accuracy.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/>
                        <a:t>Multilingual Accessibility:</a:t>
                      </a:r>
                      <a:r>
                        <a:rPr lang="en-IN" sz="1600" dirty="0"/>
                        <a:t> Supports expansion to multiple Indian languages, making cultural knowledge accessible to a wider audience.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/>
                        <a:t>Long-Term Preservation:</a:t>
                      </a:r>
                      <a:r>
                        <a:rPr lang="en-IN" sz="1600" dirty="0"/>
                        <a:t> Creates a continuously updateable digital repository of India's cultural knowledge.</a:t>
                      </a:r>
                      <a:endParaRPr lang="en-IN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615660"/>
                  </a:ext>
                </a:extLst>
              </a:tr>
            </a:tbl>
          </a:graphicData>
        </a:graphic>
      </p:graphicFrame>
      <p:sp>
        <p:nvSpPr>
          <p:cNvPr id="17414" name="TextBox 17413">
            <a:extLst>
              <a:ext uri="{FF2B5EF4-FFF2-40B4-BE49-F238E27FC236}">
                <a16:creationId xmlns:a16="http://schemas.microsoft.com/office/drawing/2014/main" id="{E59546D9-E6BF-B1BD-85B2-72C154447EEA}"/>
              </a:ext>
            </a:extLst>
          </p:cNvPr>
          <p:cNvSpPr txBox="1"/>
          <p:nvPr/>
        </p:nvSpPr>
        <p:spPr>
          <a:xfrm>
            <a:off x="3307636" y="3367305"/>
            <a:ext cx="576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958680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05226"/>
            <a:ext cx="10972800" cy="1143000"/>
          </a:xfrm>
        </p:spPr>
        <p:txBody>
          <a:bodyPr wrap="square" anchor="ctr"/>
          <a:lstStyle/>
          <a:p>
            <a:pPr algn="ctr" eaLnBrk="1" hangingPunct="1"/>
            <a:r>
              <a:rPr sz="2800" b="1" dirty="0">
                <a:solidFill>
                  <a:srgbClr val="182B41"/>
                </a:solidFill>
                <a:latin typeface="Aptos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5C6670"/>
                </a:solidFill>
                <a:latin typeface="Aptos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822960" y="1095375"/>
            <a:ext cx="10058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CD993F"/>
                </a:solidFill>
                <a:latin typeface="Aptos"/>
              </a:rPr>
              <a:t>Reference base for heritage content and cultural context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C37F66-19E3-4EB1-8EEE-73E0E8170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320895"/>
              </p:ext>
            </p:extLst>
          </p:nvPr>
        </p:nvGraphicFramePr>
        <p:xfrm>
          <a:off x="457201" y="1597741"/>
          <a:ext cx="11286066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2022">
                  <a:extLst>
                    <a:ext uri="{9D8B030D-6E8A-4147-A177-3AD203B41FA5}">
                      <a16:colId xmlns:a16="http://schemas.microsoft.com/office/drawing/2014/main" val="3817116490"/>
                    </a:ext>
                  </a:extLst>
                </a:gridCol>
                <a:gridCol w="3762022">
                  <a:extLst>
                    <a:ext uri="{9D8B030D-6E8A-4147-A177-3AD203B41FA5}">
                      <a16:colId xmlns:a16="http://schemas.microsoft.com/office/drawing/2014/main" val="748689885"/>
                    </a:ext>
                  </a:extLst>
                </a:gridCol>
                <a:gridCol w="3762022">
                  <a:extLst>
                    <a:ext uri="{9D8B030D-6E8A-4147-A177-3AD203B41FA5}">
                      <a16:colId xmlns:a16="http://schemas.microsoft.com/office/drawing/2014/main" val="998024756"/>
                    </a:ext>
                  </a:extLst>
                </a:gridCol>
              </a:tblGrid>
              <a:tr h="83542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182B41"/>
                          </a:solidFill>
                          <a:latin typeface="Aptos"/>
                        </a:rPr>
                        <a:t>UNESCO – India Intangible Cultural Heritage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2C5C87"/>
                          </a:solidFill>
                          <a:latin typeface="Aptos"/>
                          <a:hlinkClick r:id="rId4"/>
                        </a:rPr>
                        <a:t>https://ich.unesco.org/en/state/india-IN</a:t>
                      </a:r>
                      <a:endParaRPr lang="en-IN" sz="1800" dirty="0">
                        <a:solidFill>
                          <a:srgbClr val="2C5C87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82D32"/>
                          </a:solidFill>
                          <a:latin typeface="Aptos"/>
                        </a:rPr>
                        <a:t>Lists India’s inscribed intangible cultural heritage elements and safeguarding context.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285296"/>
                  </a:ext>
                </a:extLst>
              </a:tr>
              <a:tr h="108605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82B41"/>
                          </a:solidFill>
                          <a:latin typeface="Aptos"/>
                        </a:rPr>
                        <a:t>Ministry of Culture, Government of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2C5C87"/>
                          </a:solidFill>
                          <a:latin typeface="Aptos"/>
                          <a:hlinkClick r:id="rId5"/>
                        </a:rPr>
                        <a:t>https://www.indiaculture.gov.in/</a:t>
                      </a:r>
                      <a:endParaRPr lang="en-IN" sz="1800" dirty="0">
                        <a:solidFill>
                          <a:srgbClr val="2C5C87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82D32"/>
                          </a:solidFill>
                          <a:latin typeface="Aptos"/>
                        </a:rPr>
                        <a:t>Official national source for preservation, conservation and promotion of tangible and intangible culture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222226"/>
                  </a:ext>
                </a:extLst>
              </a:tr>
              <a:tr h="83542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82B41"/>
                          </a:solidFill>
                          <a:latin typeface="Aptos"/>
                        </a:rPr>
                        <a:t>Incredible India – People &amp;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2C5C87"/>
                          </a:solidFill>
                          <a:latin typeface="Aptos"/>
                          <a:hlinkClick r:id="rId6"/>
                        </a:rPr>
                        <a:t>https://www.incredibleindia.gov.in/en/people-and-culture</a:t>
                      </a:r>
                      <a:endParaRPr lang="en-IN" sz="1800" dirty="0">
                        <a:solidFill>
                          <a:srgbClr val="2C5C87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282D32"/>
                          </a:solidFill>
                          <a:latin typeface="Aptos"/>
                        </a:rPr>
                        <a:t>Official tourism source describing India’s people, traditions and cultural experiences.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161399"/>
                  </a:ext>
                </a:extLst>
              </a:tr>
              <a:tr h="83542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82B41"/>
                          </a:solidFill>
                          <a:latin typeface="Aptos"/>
                        </a:rPr>
                        <a:t>Incredible India – Heritage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2C5C87"/>
                          </a:solidFill>
                          <a:latin typeface="Aptos"/>
                          <a:hlinkClick r:id="rId7"/>
                        </a:rPr>
                        <a:t>https://www.incredibleindia.gov.in/content/incredible-india-v2/en/experiences/heritage.html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82D32"/>
                          </a:solidFill>
                          <a:latin typeface="Aptos"/>
                        </a:rPr>
                        <a:t>Reference for heritage destinations, architecture, monuments, arts and crafts.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01884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3B294FE-7977-A131-585E-EE85B6982C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14" y="-867"/>
            <a:ext cx="1702210" cy="113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8187</TotalTime>
  <Words>864</Words>
  <Application>Microsoft Office PowerPoint</Application>
  <PresentationFormat>Widescreen</PresentationFormat>
  <Paragraphs>143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ＭＳ Ｐゴシック</vt:lpstr>
      <vt:lpstr>Aptos</vt:lpstr>
      <vt:lpstr>Arial</vt:lpstr>
      <vt:lpstr>Calibri</vt:lpstr>
      <vt:lpstr>Cambria</vt:lpstr>
      <vt:lpstr>Perpetua</vt:lpstr>
      <vt:lpstr>TradeGothic</vt:lpstr>
      <vt:lpstr>Wingdings</vt:lpstr>
      <vt:lpstr>Office Theme</vt:lpstr>
      <vt:lpstr>PowerPoint Presentation</vt:lpstr>
      <vt:lpstr>VIRASAT — Heritage of India</vt:lpstr>
      <vt:lpstr>TECHNICAL APPROACH</vt:lpstr>
      <vt:lpstr>ARCHITECTURE DIAGRAM</vt:lpstr>
      <vt:lpstr>FEASIBILITY AND VIABILITY</vt:lpstr>
      <vt:lpstr>WORKFLOW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Yadvi Shende</cp:lastModifiedBy>
  <cp:revision>158</cp:revision>
  <dcterms:created xsi:type="dcterms:W3CDTF">2013-12-12T18:46:50Z</dcterms:created>
  <dcterms:modified xsi:type="dcterms:W3CDTF">2026-09-07T14:45:18Z</dcterms:modified>
  <cp:category/>
</cp:coreProperties>
</file>